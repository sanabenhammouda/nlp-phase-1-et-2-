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49" d="100"/>
          <a:sy n="49" d="100"/>
        </p:scale>
        <p:origin x="66" y="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1049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5586B75A-687E-405C-8A0B-8D00578BA2C3}" type="datetimeFigureOut">
              <a:rPr lang="en-US" smtClean="0"/>
              <a:pPr/>
              <a:t>5/19/2026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48789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D3E9E-A95C-48F2-B4BF-A71542E0BE9A}" type="datetimeFigureOut">
              <a:rPr lang="en-US" smtClean="0"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90977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15604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FigureOut">
              <a:rPr lang="en-US" smtClean="0"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4156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FigureOut">
              <a:rPr lang="en-US" smtClean="0"/>
              <a:t>5/19/2026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72704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E00A-486F-4252-8B1D-E32645521F49}" type="datetimeFigureOut">
              <a:rPr lang="en-US" smtClean="0"/>
              <a:t>5/19/2026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53524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5F92-E675-4B36-9A60-69A962A68675}" type="datetimeFigureOut">
              <a:rPr lang="en-US" smtClean="0"/>
              <a:t>5/19/2026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10024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2C9B-5FA2-460D-9BE7-B0812FC2A6FF}" type="datetimeFigureOut">
              <a:rPr lang="en-US" smtClean="0"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77474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5586B75A-687E-405C-8A0B-8D00578BA2C3}" type="datetimeFigureOut">
              <a:rPr lang="en-US" smtClean="0"/>
              <a:pPr/>
              <a:t>5/19/2026</a:t>
            </a:fld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2966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FigureOut">
              <a:rPr lang="en-US" smtClean="0"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73337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FigureOut">
              <a:rPr lang="en-US" smtClean="0"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07008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6761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smtClean="0"/>
              <a:pPr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343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nlp/dataset-for-sentiment-analysis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FFFFFF"/>
                </a:solidFill>
              </a:rPr>
              <a:t>Analyse Automatique des Sentiments</a:t>
            </a:r>
            <a:endParaRPr lang="en-US" sz="3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FFFFFF"/>
                </a:solidFill>
              </a:rPr>
              <a:t>pour Améliorer l'Expérience Client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498DB"/>
                </a:solidFill>
              </a:rPr>
              <a:t>Projet NLP — 4CINFOGL1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206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600" dirty="0">
                <a:solidFill>
                  <a:srgbClr val="BDC3C7"/>
                </a:solidFill>
              </a:rPr>
              <a:t>Phase 1 : Prétraitement des Données</a:t>
            </a:r>
            <a:endParaRPr lang="en-US" sz="16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600" dirty="0">
                <a:solidFill>
                  <a:srgbClr val="BDC3C7"/>
                </a:solidFill>
              </a:rPr>
              <a:t>Phase 2 : Machine Learning Classique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95A5A6"/>
                </a:solidFill>
              </a:rPr>
              <a:t>Groupe 1 :  Sana Ben Hammouda  - </a:t>
            </a:r>
            <a:r>
              <a:rPr lang="en-US" b="1" dirty="0" err="1">
                <a:solidFill>
                  <a:srgbClr val="95A5A6"/>
                </a:solidFill>
              </a:rPr>
              <a:t>Sebteoui</a:t>
            </a:r>
            <a:r>
              <a:rPr lang="en-US" b="1" dirty="0">
                <a:solidFill>
                  <a:srgbClr val="95A5A6"/>
                </a:solidFill>
              </a:rPr>
              <a:t> Imen – Ben Salah Mohamed Jobrane – ben Ali Hamza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50"/>
                </a:solidFill>
              </a:rPr>
              <a:t>Plan de la Présentation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371600" y="10972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498DB"/>
                </a:solidFill>
              </a:rPr>
              <a:t>1. Contexte et Objectifs du Projet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71600" y="15544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498DB"/>
                </a:solidFill>
              </a:rPr>
              <a:t>2. Présentation du Dataset IMDb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20116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498DB"/>
                </a:solidFill>
              </a:rPr>
              <a:t>3. Phase 1 — Prétraitement NLP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24688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498DB"/>
                </a:solidFill>
              </a:rPr>
              <a:t>4. Phase 1 — Exploration et Visualisation (EDA)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29260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498DB"/>
                </a:solidFill>
              </a:rPr>
              <a:t>5. Phase 1 — WordClouds et Interprétation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33832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498DB"/>
                </a:solidFill>
              </a:rPr>
              <a:t>6. Phase 1 — Vectorisation TF-IDF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38404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7AE60"/>
                </a:solidFill>
              </a:rPr>
              <a:t>7. Phase 2 — Modèles ML Classiques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42976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7AE60"/>
                </a:solidFill>
              </a:rPr>
              <a:t>8. Phase 2 — Résultats et Interprétation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47548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7AE60"/>
                </a:solidFill>
              </a:rPr>
              <a:t>9. Phase 2 — Matrices de Confusion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52120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7AE60"/>
                </a:solidFill>
              </a:rPr>
              <a:t>10. Phase 2 — Hyperparameter Tuning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56692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7AE60"/>
                </a:solidFill>
              </a:rPr>
              <a:t>11. Conclusion et Perspectives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50"/>
                </a:solidFill>
              </a:rPr>
              <a:t>Contexte et Objectifs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498DB"/>
                </a:solidFill>
              </a:rPr>
              <a:t>Problématique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Volume massif d'avis clients en ligne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Analyse manuelle impossible à grande échelle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Besoin d'automatiser la détection des sentiments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Identifier les opinions positives et négatives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0" y="1097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7AE60"/>
                </a:solidFill>
              </a:rPr>
              <a:t>Objectifs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0" y="155448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Charger et explorer un dataset réel (IMDb)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Prétraiter et vectoriser les textes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Classifier : positif vs négatif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Comparer 6 algorithmes ML classiques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Identifier le meilleur modèle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3737" y="4258769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F8C8D"/>
                </a:solidFill>
              </a:rPr>
              <a:t>Technologies : Python, Scikit-learn, TF-IDF, Matplotlib, Seaborn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50"/>
                </a:solidFill>
              </a:rPr>
              <a:t>Présentation du Dataset — IMDb Reviews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5486400" cy="4114800"/>
          </a:xfrm>
          <a:prstGeom prst="roundRect">
            <a:avLst>
              <a:gd name="adj" fmla="val 1111"/>
            </a:avLst>
          </a:prstGeom>
          <a:solidFill>
            <a:srgbClr val="ECF0F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98DB"/>
                </a:solidFill>
              </a:rPr>
              <a:t>À propos du Dataset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Source : Internet Movie Database (IMDb)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50 000 reviews de films en anglais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Labellisé : positive / negative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Dataset de référence en NLP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Utilisé dans la recherche académique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Textes longs et variés (18 à 1024 mots)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Distribution équilibrée (50/50)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solidFill>
                  <a:schemeClr val="bg2"/>
                </a:solidFill>
              </a:rPr>
              <a:t>Lien du dataset: </a:t>
            </a:r>
            <a:r>
              <a:rPr lang="fr-FR" sz="1000" dirty="0" err="1">
                <a:solidFill>
                  <a:srgbClr val="8F8F8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Dataset</a:t>
            </a:r>
            <a:r>
              <a:rPr lang="fr-FR" sz="1000" dirty="0">
                <a:solidFill>
                  <a:srgbClr val="8F8F8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for Sentiment </a:t>
            </a:r>
            <a:r>
              <a:rPr lang="fr-FR" sz="1000" dirty="0" err="1">
                <a:solidFill>
                  <a:srgbClr val="8F8F8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Analysis</a:t>
            </a:r>
            <a:r>
              <a:rPr lang="fr-FR" sz="1000" dirty="0">
                <a:solidFill>
                  <a:srgbClr val="8F8F8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– </a:t>
            </a:r>
            <a:r>
              <a:rPr lang="fr-FR" sz="1000" dirty="0" err="1">
                <a:solidFill>
                  <a:schemeClr val="bg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GeeksforGeeks</a:t>
            </a:r>
            <a:r>
              <a:rPr lang="fr-FR" sz="1000" dirty="0">
                <a:solidFill>
                  <a:schemeClr val="bg2"/>
                </a:solidFill>
              </a:rPr>
              <a:t> (Dataset1 </a:t>
            </a:r>
            <a:r>
              <a:rPr lang="fr-FR" sz="1000" b="1" dirty="0" err="1">
                <a:solidFill>
                  <a:schemeClr val="bg2"/>
                </a:solidFill>
              </a:rPr>
              <a:t>IMDb</a:t>
            </a:r>
            <a:r>
              <a:rPr lang="fr-FR" sz="1000" b="1" dirty="0">
                <a:solidFill>
                  <a:schemeClr val="bg2"/>
                </a:solidFill>
              </a:rPr>
              <a:t> </a:t>
            </a:r>
            <a:r>
              <a:rPr lang="fr-FR" sz="1000" b="1" dirty="0" err="1">
                <a:solidFill>
                  <a:schemeClr val="bg2"/>
                </a:solidFill>
              </a:rPr>
              <a:t>Reviews</a:t>
            </a:r>
            <a:r>
              <a:rPr lang="fr-FR" sz="1000" b="1" dirty="0">
                <a:solidFill>
                  <a:schemeClr val="bg2"/>
                </a:solidFill>
              </a:rPr>
              <a:t> </a:t>
            </a:r>
            <a:r>
              <a:rPr lang="fr-FR" sz="1000" b="1" dirty="0" err="1">
                <a:solidFill>
                  <a:schemeClr val="bg2"/>
                </a:solidFill>
              </a:rPr>
              <a:t>Dataset</a:t>
            </a:r>
            <a:r>
              <a:rPr lang="en-US" sz="1000" b="1" dirty="0">
                <a:solidFill>
                  <a:schemeClr val="bg2"/>
                </a:solidFill>
              </a:rPr>
              <a:t>) </a:t>
            </a:r>
            <a:endParaRPr lang="fr-FR" sz="1000" b="1" dirty="0">
              <a:solidFill>
                <a:schemeClr val="bg2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5943600" y="1097280"/>
            <a:ext cx="5486400" cy="4114800"/>
          </a:xfrm>
          <a:prstGeom prst="roundRect">
            <a:avLst>
              <a:gd name="adj" fmla="val 1111"/>
            </a:avLst>
          </a:prstGeom>
          <a:solidFill>
            <a:srgbClr val="ECF0F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126480" y="1188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AE60"/>
                </a:solidFill>
              </a:rPr>
              <a:t>Pourquoi IMDb 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26480" y="164592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Dataset réel (pas synthétique)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Complexité linguistique élevée :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  - Sarcasme, ironie, nuances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  - Vocabulaire riche et varié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  - Phrases longues et complexes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Benchmark standard pour comparer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  les performances des modèles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Applicable au domaine e-commerce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  (même logique : avis clients)</a:t>
            </a:r>
            <a:endParaRPr lang="en-US" sz="1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80C4B04-A95E-CBDF-7A37-E594A9AEE0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9498" y="5029697"/>
            <a:ext cx="8842443" cy="164492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50"/>
                </a:solidFill>
              </a:rPr>
              <a:t>Structure et Statistiques du Dataset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7315200" cy="3200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Propriété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Valeur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Nombre total de reviews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50 000 (échantillon : 5 000)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Classes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positive, negative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Distribution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~50% positive / ~50% negative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Longueur moyenne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233 mots par review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Longueur min / max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18 / 1024 mots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Langue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Anglais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Format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CSV (review, sentiment)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4572000"/>
            <a:ext cx="10972800" cy="1371600"/>
          </a:xfrm>
          <a:prstGeom prst="roundRect">
            <a:avLst>
              <a:gd name="adj" fmla="val 3333"/>
            </a:avLst>
          </a:prstGeom>
          <a:solidFill>
            <a:srgbClr val="FDF2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640080" y="46634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333333"/>
                </a:solidFill>
              </a:rPr>
              <a:t>Le dataset est parfaitement équilibré, ce qui évite le biais de classe.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333333"/>
                </a:solidFill>
              </a:rPr>
              <a:t>Les textes sont longs et riches, ce qui rend la tâche de classification plus réaliste et challengeante.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50"/>
                </a:solidFill>
              </a:rPr>
              <a:t>Phase 1 — Prétraitement NLP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498DB"/>
                </a:solidFill>
              </a:rPr>
              <a:t>Pipeline de Prétraitement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1645920"/>
            <a:ext cx="1737360" cy="1554480"/>
          </a:xfrm>
          <a:prstGeom prst="roundRect">
            <a:avLst>
              <a:gd name="adj" fmla="val 2941"/>
            </a:avLst>
          </a:prstGeom>
          <a:solidFill>
            <a:srgbClr val="3498D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274320" y="16916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HTML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Removal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23317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Suppression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balises HTML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965960" y="21031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0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194560" y="1645920"/>
            <a:ext cx="1737360" cy="1554480"/>
          </a:xfrm>
          <a:prstGeom prst="roundRect">
            <a:avLst>
              <a:gd name="adj" fmla="val 2941"/>
            </a:avLst>
          </a:prstGeom>
          <a:solidFill>
            <a:srgbClr val="27AE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194560" y="16916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Lowercase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94560" y="23317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Mise en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minuscules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86200" y="21031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0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114800" y="1645920"/>
            <a:ext cx="1737360" cy="1554480"/>
          </a:xfrm>
          <a:prstGeom prst="roundRect">
            <a:avLst>
              <a:gd name="adj" fmla="val 2941"/>
            </a:avLst>
          </a:prstGeom>
          <a:solidFill>
            <a:srgbClr val="3498D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114800" y="16916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Clean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0" y="23317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Suppression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ponctuation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806440" y="21031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0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035040" y="1645920"/>
            <a:ext cx="1737360" cy="1554480"/>
          </a:xfrm>
          <a:prstGeom prst="roundRect">
            <a:avLst>
              <a:gd name="adj" fmla="val 2941"/>
            </a:avLst>
          </a:prstGeom>
          <a:solidFill>
            <a:srgbClr val="27AE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035040" y="16916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Tokenize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35040" y="23317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Découpage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en mots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26680" y="21031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0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955280" y="1645920"/>
            <a:ext cx="1737360" cy="1554480"/>
          </a:xfrm>
          <a:prstGeom prst="roundRect">
            <a:avLst>
              <a:gd name="adj" fmla="val 2941"/>
            </a:avLst>
          </a:prstGeom>
          <a:solidFill>
            <a:srgbClr val="3498D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7955280" y="16916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Stopwords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955280" y="23317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Suppression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mots vides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646920" y="21031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0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875520" y="1645920"/>
            <a:ext cx="1737360" cy="1554480"/>
          </a:xfrm>
          <a:prstGeom prst="roundRect">
            <a:avLst>
              <a:gd name="adj" fmla="val 2941"/>
            </a:avLst>
          </a:prstGeom>
          <a:solidFill>
            <a:srgbClr val="27AE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9875520" y="16916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Lemmatize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875520" y="23317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Forme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canonique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3474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</a:rPr>
              <a:t>Exemple :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3840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4C3C"/>
                </a:solidFill>
              </a:rPr>
              <a:t>Avant : "I really liked this Summerslam due to the look of the arena, the curtains..."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4206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AE60"/>
                </a:solidFill>
              </a:rPr>
              <a:t>Après : "real lik summerslam due look arena curtain look overall interest"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4754880"/>
            <a:ext cx="10972800" cy="1371600"/>
          </a:xfrm>
          <a:prstGeom prst="roundRect">
            <a:avLst>
              <a:gd name="adj" fmla="val 3333"/>
            </a:avLst>
          </a:prstGeom>
          <a:solidFill>
            <a:srgbClr val="FDF2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640080" y="48463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333333"/>
                </a:solidFill>
              </a:rPr>
              <a:t>: Le prétraitement réduit le bruit (HTML, ponctuation, mots vides) et normalise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333333"/>
                </a:solidFill>
              </a:rPr>
              <a:t>le vocabulaire. Cela permet au modèle de se concentrer sur les mots porteurs de sens (sentiment).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333333"/>
                </a:solidFill>
              </a:rPr>
              <a:t>La lemmatisation regroupe les variantes d'un même mot (liked → lik, running → run).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50"/>
                </a:solidFill>
              </a:rPr>
              <a:t>Phase 1 — Exploration des Données (EDA)</a:t>
            </a:r>
            <a:endParaRPr lang="en-US" sz="2800" dirty="0"/>
          </a:p>
        </p:txBody>
      </p:sp>
      <p:pic>
        <p:nvPicPr>
          <p:cNvPr id="3" name="Image 0" descr="C:\Program Files\LGH\fm\lgh-fm\PFE_Development\Tools\NLP_Sentiment_Project\output\phase1_eda_visualiz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14400"/>
            <a:ext cx="11704320" cy="4572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74320" y="5577840"/>
            <a:ext cx="11430000" cy="1005840"/>
          </a:xfrm>
          <a:prstGeom prst="roundRect">
            <a:avLst>
              <a:gd name="adj" fmla="val 2727"/>
            </a:avLst>
          </a:prstGeom>
          <a:solidFill>
            <a:srgbClr val="FDF2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57200" y="5623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333333"/>
                </a:solidFill>
              </a:rPr>
              <a:t>: Distribution équilibrée (50/50). Les reviews positives et négatives ont des longueurs similaires, ce qui signifie que la longueur seule ne suffit pas pour classifier — le contenu sémantique est déterminant.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50"/>
                </a:solidFill>
              </a:rPr>
              <a:t>Phase 1 — WordClouds par Sentiment</a:t>
            </a:r>
            <a:endParaRPr lang="en-US" sz="2800" dirty="0"/>
          </a:p>
        </p:txBody>
      </p:sp>
      <p:pic>
        <p:nvPicPr>
          <p:cNvPr id="3" name="Image 0" descr="C:\Program Files\LGH\fm\lgh-fm\PFE_Development\Tools\NLP_Sentiment_Project\output\phase1_wordclou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14400"/>
            <a:ext cx="11704320" cy="4114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74320" y="5120640"/>
            <a:ext cx="11430000" cy="1554480"/>
          </a:xfrm>
          <a:prstGeom prst="roundRect">
            <a:avLst>
              <a:gd name="adj" fmla="val 1765"/>
            </a:avLst>
          </a:prstGeom>
          <a:solidFill>
            <a:srgbClr val="FDF2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57200" y="516636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333333"/>
                </a:solidFill>
              </a:rPr>
              <a:t>: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333333"/>
                </a:solidFill>
              </a:rPr>
              <a:t>• Positif : mots dominants = 'great', 'good', 'love', 'best', 'enjoy', 'recommend' → vocabulaire d'appréciation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333333"/>
                </a:solidFill>
              </a:rPr>
              <a:t>• Négatif : mots dominants = 'bad', 'worst', 'waste', 'boring', 'poor', 'terrible' → vocabulaire de critique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333333"/>
                </a:solidFill>
              </a:rPr>
              <a:t>• Certains mots apparaissent dans les deux (ex: 'character', 'story') → contexte détermine le sentiment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50"/>
                </a:solidFill>
              </a:rPr>
              <a:t>Phase 1 — Vectorisation TF-IDF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98DB"/>
                </a:solidFill>
              </a:rPr>
              <a:t>TF-IDF (Term Frequency — Inverse Document Frequency)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5943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Transforme chaque review en vecteur numérique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Pondère l'importance relative des mots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Mots fréquents dans un doc mais rares globalement → poids élevé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Paramètres : max_features=10000, ngram_range=(1,2), min_df=3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0" y="1371600"/>
            <a:ext cx="5029200" cy="2286000"/>
          </a:xfrm>
          <a:prstGeom prst="roundRect">
            <a:avLst>
              <a:gd name="adj" fmla="val 2000"/>
            </a:avLst>
          </a:prstGeom>
          <a:solidFill>
            <a:srgbClr val="ECF0F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766560" y="1463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AE60"/>
                </a:solidFill>
              </a:rPr>
              <a:t>Résultat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766560" y="192024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Matrice : 5000 × 10000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(documents × features)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Matrice creuse (sparse)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Prête pour les modèles ML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7AE60"/>
                </a:solidFill>
              </a:rPr>
              <a:t>Top termes positifs : great, good, love, best, enjoy, recommend, watch, story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74C3C"/>
                </a:solidFill>
              </a:rPr>
              <a:t>Top termes négatifs : bad, worst, waste, boring, poor, terrible, awful, dont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4846320"/>
            <a:ext cx="11430000" cy="1371600"/>
          </a:xfrm>
          <a:prstGeom prst="roundRect">
            <a:avLst>
              <a:gd name="adj" fmla="val 2000"/>
            </a:avLst>
          </a:prstGeom>
          <a:solidFill>
            <a:srgbClr val="FDF2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" y="493776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333333"/>
                </a:solidFill>
              </a:rPr>
              <a:t>Le TF-IDF capture les mots discriminants entre les classes. Les bigrams (ex: 'waste time',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333333"/>
                </a:solidFill>
              </a:rPr>
              <a:t>'highly recommend') ajoutent du contexte. 10000 features offrent un bon compromis entre richesse et performance.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50"/>
                </a:solidFill>
              </a:rPr>
              <a:t>Phase 2 — Modèles ML Classiques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98DB"/>
                </a:solidFill>
              </a:rPr>
              <a:t>6 Algorithmes Entraînés et Évalués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11430000" cy="2926077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Modèle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Avantage principal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SVM (Linear)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Discriminatif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Efficace en haute dimension (TF-IDF)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Logistic Regression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Probabiliste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Rapide, interprétable, bon baseline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Random Forest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Ensemble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Robuste au bruit, pas d'overfitting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Naive Bayes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Probabiliste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Très rapide, classique en NLP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Decision Tree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Arbre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Interprétable, capture non-linéarités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KNN (k=5)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Instance-based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Simple, pas d'entraînement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480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</a:rPr>
              <a:t>Protocole d'évaluation :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84632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</a:rPr>
              <a:t>• Split stratifié 80% train / 20% test (4000 / 1000 reviews)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</a:rPr>
              <a:t>• Cross-Validation 5-Fold sur l'ensemble complet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</a:rPr>
              <a:t>• Métriques : Accuracy, F1-Score (weighted), Precision, Recall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</a:rPr>
              <a:t>• GridSearchCV pour l'optimisation des hyperparamètres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50"/>
                </a:solidFill>
              </a:rPr>
              <a:t>Phase 2 — Résultats et Comparaison</a:t>
            </a:r>
            <a:endParaRPr lang="en-US" sz="2800" dirty="0"/>
          </a:p>
        </p:txBody>
      </p:sp>
      <p:pic>
        <p:nvPicPr>
          <p:cNvPr id="3" name="Image 0" descr="C:\Program Files\LGH\fm\lgh-fm\PFE_Development\Tools\NLP_Sentiment_Project\output\phase2_ml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822960"/>
            <a:ext cx="11704320" cy="4572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74320" y="5486400"/>
            <a:ext cx="11430000" cy="1188720"/>
          </a:xfrm>
          <a:prstGeom prst="roundRect">
            <a:avLst>
              <a:gd name="adj" fmla="val 2308"/>
            </a:avLst>
          </a:prstGeom>
          <a:solidFill>
            <a:srgbClr val="FDF2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57200" y="55321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333333"/>
                </a:solidFill>
              </a:rPr>
              <a:t>SVM Linear domine (87%) grâce à sa capacité à séparer les classes en haute dimension.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333333"/>
                </a:solidFill>
              </a:rPr>
              <a:t>Logistic Regression et Naive Bayes suivent de près (~85-86%). KNN et Decision Tree sous-performent car ils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333333"/>
                </a:solidFill>
              </a:rPr>
              <a:t>gèrent mal les espaces à 10000 dimensions (curse of dimensionality pour KNN, overfitting pour DT).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50"/>
                </a:solidFill>
              </a:rPr>
              <a:t>Phase 2 — Tableau Comparatif des Résultats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0972800" cy="3200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Modèle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F1-Score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CV Mean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CV Std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SVM (Linear)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0.8700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0.8700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0.8572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±0.0081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Logistic Regression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0.8600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0.8599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0.8576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±0.0111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Random Forest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0.8530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0.8530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0.8360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±0.0113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Naive Bayes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0.8500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0.8500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0.8564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±0.0159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Decision Tree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0.7230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0.7222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0.7070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±0.0104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KNN (k=5)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0.7070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0.7069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0.7114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±0.0150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2286000" y="4572000"/>
            <a:ext cx="7315200" cy="91440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2286000" y="4572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🏆 Meilleur Modèle : SVM Linear — Accuracy 87% | F1 = 0.87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74320" y="5669280"/>
            <a:ext cx="11430000" cy="1005840"/>
          </a:xfrm>
          <a:prstGeom prst="roundRect">
            <a:avLst>
              <a:gd name="adj" fmla="val 2727"/>
            </a:avLst>
          </a:prstGeom>
          <a:solidFill>
            <a:srgbClr val="FDF2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457200" y="57150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333333"/>
                </a:solidFill>
              </a:rPr>
              <a:t> Le faible écart-type en CV (±0.008 pour SVM) montre que le modèle est stable et généralisable.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333333"/>
                </a:solidFill>
              </a:rPr>
              <a:t>87% sur des reviews IMDb réelles est un excellent résultat pour du ML classique (état de l'art BERT : ~93%).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50"/>
                </a:solidFill>
              </a:rPr>
              <a:t>Phase 2 — Matrices de Confusion</a:t>
            </a:r>
            <a:endParaRPr lang="en-US" sz="2800" dirty="0"/>
          </a:p>
        </p:txBody>
      </p:sp>
      <p:pic>
        <p:nvPicPr>
          <p:cNvPr id="3" name="Image 0" descr="C:\Program Files\LGH\fm\lgh-fm\PFE_Development\Tools\NLP_Sentiment_Project\output\phase2_confusion_matr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822960"/>
            <a:ext cx="11704320" cy="4572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74320" y="5486400"/>
            <a:ext cx="11430000" cy="1188720"/>
          </a:xfrm>
          <a:prstGeom prst="roundRect">
            <a:avLst>
              <a:gd name="adj" fmla="val 2308"/>
            </a:avLst>
          </a:prstGeom>
          <a:solidFill>
            <a:srgbClr val="FDF2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57200" y="55321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333333"/>
                </a:solidFill>
              </a:rPr>
              <a:t>Les matrices montrent que SVM et LR ont peu de faux positifs/négatifs (~65 erreurs sur 1000).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333333"/>
                </a:solidFill>
              </a:rPr>
              <a:t>Decision Tree et KNN confondent davantage les classes (~140-150 erreurs). Les erreurs sont symétriques,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333333"/>
                </a:solidFill>
              </a:rPr>
              <a:t>confirmant qu'aucun modèle n'a de biais vers une classe particulière.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50"/>
                </a:solidFill>
              </a:rPr>
              <a:t>Phase 2 — Hyperparameter Tuning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498DB"/>
                </a:solidFill>
              </a:rPr>
              <a:t>GridSearchCV sur SVM (Linear)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Paramètres testés :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C (régularisation) : [0.1, 1, 10]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max_iter : [3000, 5000]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Méthode : GridSearchCV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3-Fold Cross-Validation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Scoring : F1-weighted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• 6 combinaisons testées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0" y="1554480"/>
            <a:ext cx="5029200" cy="2743200"/>
          </a:xfrm>
          <a:prstGeom prst="roundRect">
            <a:avLst>
              <a:gd name="adj" fmla="val 1667"/>
            </a:avLst>
          </a:prstGeom>
          <a:solidFill>
            <a:srgbClr val="ECF0F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126480" y="1645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AE60"/>
                </a:solidFill>
              </a:rPr>
              <a:t>Résultats du Tuning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126480" y="210312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Meilleurs paramètres :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  C = 0.1, max_iter = 3000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F1 après tuning : 0.8579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Accuracy après tuning : 0.8580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Temps d'exécution : &lt; 30s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4572000"/>
            <a:ext cx="11430000" cy="1645920"/>
          </a:xfrm>
          <a:prstGeom prst="roundRect">
            <a:avLst>
              <a:gd name="adj" fmla="val 1667"/>
            </a:avLst>
          </a:prstGeom>
          <a:solidFill>
            <a:srgbClr val="FDF2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333333"/>
                </a:solidFill>
              </a:rPr>
              <a:t> C=0.1 (forte régularisation) est optimal, ce qui indique que le modèle bénéficie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333333"/>
                </a:solidFill>
              </a:rPr>
              <a:t>d'une marge plus large et d'une meilleure généralisation. Un C trop élevé (10) causerait de l'overfitting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333333"/>
                </a:solidFill>
              </a:rPr>
              <a:t>sur les 10000 features TF-IDF. Le tuning confirme que le SVM par défaut (C=1) était déjà proche de l'optimal.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0972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Phase 1 — Prétraitement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   • 5000 reviews IMDb réelles chargées et nettoyées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   • Pipeline NLP : HTML removal, tokenisation, stopwords, lemmatisation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   • Vectorisation TF-IDF (10000 features, bigrams)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   • EDA complète avec visualisations et WordClouds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Phase 2 — ML Classique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   • 6 modèles entraînés, évalués et comparés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   • SVM Linear : meilleur modèle (F1 = 0.87, Accuracy = 87%)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   • Cross-validation 5-Fold : résultats stables (±0.008)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   • Hyperparameter tuning avec GridSearchCV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F03B5E"/>
      </a:accent1>
      <a:accent2>
        <a:srgbClr val="DC6FEC"/>
      </a:accent2>
      <a:accent3>
        <a:srgbClr val="60B1F2"/>
      </a:accent3>
      <a:accent4>
        <a:srgbClr val="6AD5BB"/>
      </a:accent4>
      <a:accent5>
        <a:srgbClr val="E8AB4E"/>
      </a:accent5>
      <a:accent6>
        <a:srgbClr val="F56447"/>
      </a:accent6>
      <a:hlink>
        <a:srgbClr val="8F8F8F"/>
      </a:hlink>
      <a:folHlink>
        <a:srgbClr val="A5A5A5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33ACF124-275F-44F2-8DE0-0A755069829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5</TotalTime>
  <Words>1418</Words>
  <Application>Microsoft Office PowerPoint</Application>
  <PresentationFormat>Widescreen</PresentationFormat>
  <Paragraphs>248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 Light</vt:lpstr>
      <vt:lpstr>Metropolitan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Analyse Automatique des Sentiments</dc:subject>
  <dc:creator>Equipe NLP</dc:creator>
  <cp:lastModifiedBy>Sana Hammouda</cp:lastModifiedBy>
  <cp:revision>4</cp:revision>
  <dcterms:created xsi:type="dcterms:W3CDTF">2026-05-19T10:38:23Z</dcterms:created>
  <dcterms:modified xsi:type="dcterms:W3CDTF">2026-05-19T10:44:09Z</dcterms:modified>
</cp:coreProperties>
</file>